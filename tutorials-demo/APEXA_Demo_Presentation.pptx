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APEXA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EFB"/>
                </a:solidFill>
                <a:latin typeface="Calibri"/>
              </a:defRPr>
            </a:pPr>
            <a:r>
              <a:t>Advanced Photon EXperiment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91840"/>
            <a:ext cx="3931920" cy="54864"/>
          </a:xfrm>
          <a:prstGeom prst="rect">
            <a:avLst/>
          </a:prstGeom>
          <a:solidFill>
            <a:srgbClr val="E8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AI-Powered Agentic Framework for Autonomous</a:t>
            </a:r>
            <a:br/>
            <a:r>
              <a:t>Synchrotron HEDM Experimentation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CAF9"/>
                </a:solidFill>
                <a:latin typeface="Calibri"/>
              </a:defRPr>
            </a:pPr>
            <a:r>
              <a:t>Pawan Tripathi  |  Advanced Photon Source  |  Argonne National Laboratory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B5F6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Problem: Beamtime is Precious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HEDM data analysis requires memorizing dozens of scripts, flags, and file conventions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MIDAS alone has 20+ executables with complex parameter files (Parameters.txt, 100+ fields)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Operators spend significant time on command-line plumbing instead of science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Motor control requires knowing EPICS PV naming conventions and safety procedures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New users face a steep learning curve — weeks to become productive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Errors in parameters or workflow order waste precious beamtime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APEXA: Talk to Your Beamline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Calibri"/>
              </a:defRPr>
            </a:pPr>
            <a:r>
              <a:t>You type plain English. APEXA figures out which tools to call, in what order,</a:t>
            </a:r>
            <a:br/>
            <a:r>
              <a:t>with what parameters — and executes them live on your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34747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“Calibrate the CeO2 data at 61.332 keV”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7C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347472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Auto-converts energy → wavelength, finds files,</a:t>
            </a:r>
            <a:br/>
            <a:r>
              <a:t>runs AutoCalibrateZarr.py, reports beam center &amp; tilts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743200"/>
            <a:ext cx="34747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“Integrate and show me the lineout”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840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7C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206240"/>
            <a:ext cx="347472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Runs 2D→1D integration, auto-detects calibration,</a:t>
            </a:r>
            <a:br/>
            <a:r>
              <a:t>launches MIDAS viewer with correct script &amp; flags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4747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834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“Move sample X to 25.3 mm”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840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7C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206240"/>
            <a:ext cx="347472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Checks soft limits, verifies limit switches,</a:t>
            </a:r>
            <a:br/>
            <a:r>
              <a:t>issues move, waits for completion, reports final 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Architecture: Multi-Agent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280160"/>
            <a:ext cx="3383280" cy="6400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325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User Query (natural language)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920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7C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286000"/>
            <a:ext cx="4572000" cy="731520"/>
          </a:xfrm>
          <a:prstGeom prst="rect">
            <a:avLst/>
          </a:prstGeom>
          <a:solidFill>
            <a:srgbClr val="E8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23317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Orchestrator Agent (keyword-score routing)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7C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474720"/>
            <a:ext cx="21031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  <a:latin typeface="Calibri"/>
              </a:defRPr>
            </a:pPr>
            <a:r>
              <a:t>Calibration</a:t>
            </a:r>
            <a:br/>
            <a: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T=0.3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474720"/>
            <a:ext cx="210312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3520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  <a:latin typeface="Calibri"/>
              </a:defRPr>
            </a:pPr>
            <a:r>
              <a:t>Analysis</a:t>
            </a:r>
            <a:br/>
            <a: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T=0.5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3474720"/>
            <a:ext cx="2103120" cy="109728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520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  <a:latin typeface="Calibri"/>
              </a:defRPr>
            </a:pPr>
            <a:r>
              <a:t>Knowledge</a:t>
            </a:r>
            <a:br/>
            <a:r>
              <a:t>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T=0.6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0" y="3474720"/>
            <a:ext cx="2103120" cy="10972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520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  <a:latin typeface="Calibri"/>
              </a:defRPr>
            </a:pPr>
            <a:r>
              <a:t>Visualization</a:t>
            </a:r>
            <a:br/>
            <a: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T=0.3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3474720"/>
            <a:ext cx="2103120" cy="10972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3520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  <a:latin typeface="Calibri"/>
              </a:defRPr>
            </a:pPr>
            <a:r>
              <a:t>Motor</a:t>
            </a:r>
            <a:br/>
            <a:r>
              <a:t>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T=0.2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5EA2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5EA2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5EA2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5EA2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5EA2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37760"/>
            <a:ext cx="3474720" cy="73152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983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Core Server (9 tools)</a:t>
            </a:r>
            <a:br/>
            <a:r>
              <a:t>Files, Shell, X-ray Calc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4937760"/>
            <a:ext cx="3840480" cy="73152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983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MIDAS Server (21 tools)</a:t>
            </a:r>
            <a:br/>
            <a:r>
              <a:t>Calibration, Integration, FF/NF/PF-HEDM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4937760"/>
            <a:ext cx="3383280" cy="73152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4983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EPICS Motor Server (12 tools)</a:t>
            </a:r>
            <a:br/>
            <a:r>
              <a:t>Motor Control via Channel Access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5943600"/>
            <a:ext cx="7589520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5961888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Argo Gateway API  —  GPT-4o / GPT-5 / Claude Opus / Gemini 2.5  (switchable at runtime)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42 Live Tools Across 3 MCP Servers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474720" cy="5486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Core Server (9 tools)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list_directory — Browse experiment folders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read_file / write_file — File I/O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run_command — Shell execution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xray_calculate — Bragg's law, d-spacing, energy↔wavelength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validate_beamline_parameters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list_common_calibrants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check_environment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371600"/>
            <a:ext cx="3931920" cy="5486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MIDAS Server (21 tools)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01168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midas_auto_calibrate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midas_integrate_2d_to_1d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midas_batch_integrate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run_ff_hedm_full_workflow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run_nf_hedm_reconstruction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run_pf_hedm_workflow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match_grains (Hungarian alg.)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calculate_misorientation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run_forward_simulation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extract_grain_centroids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convert_nf_to_dream3d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overlay_ff_nf_results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create_midas_parameter_file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get_material_properties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estimate_parameters_from_image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371600"/>
            <a:ext cx="3383280" cy="5486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Motor Server (12 tools)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get_motor_position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get_motor_status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move_motor_absolute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move_motor_relative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stop_motor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set_motor_velocity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jog_motor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tweak_motor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get_motor_limits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set_motor_limits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list_motors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home_motor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Motor Control: AI with Built-in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5C"/>
                </a:solidFill>
                <a:latin typeface="Calibri"/>
              </a:defRPr>
            </a:pPr>
            <a:r>
              <a:t>Natural-Language Motor Control via EPICS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"What's the position of motor m1?" → reads RBV, VAL, units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"Move m1 to 50.0" → checks limits, issues move, waits, reports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"Jog forward for 2 seconds" → timed jog with auto-stop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"Tweak m3 forward by 0.01" → fine step via TWV/TWF fields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"Stop!" → immediate STOP=1, always allowed, no questions asked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Works with ANY IOC using standard motorRecord convention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371600"/>
            <a:ext cx="5029200" cy="4572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Calibri"/>
              </a:defRPr>
            </a:pPr>
            <a:r>
              <a:t>Safety Policy (never bypassed)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Soft-limit check (HLM/LLM) before every move — rejects out-of-range targets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Hard limit-switch guard (HLS/LLS) — refuses motion when at limit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Large-move protection — moves &gt;50% of travel range require explicit confirmation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Never sets STOP=0 (arming is not the AI's job)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Never homes a motor without explicit user instruction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Motor Agent temperature = 0.2 (most deterministic of all agents)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Agent Skills: Codified Beamline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Calibri"/>
              </a:defRPr>
            </a:pPr>
            <a:r>
              <a:t>Structured knowledge documents that guide each specialist agent —</a:t>
            </a:r>
            <a:br/>
            <a:r>
              <a:t>version-locked to the MIDAS manual so the AI stays accurate when MIDAS updates.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274320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Calibri"/>
              </a:defRPr>
            </a:pPr>
            <a:r>
              <a:t>midas-calibrate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468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Exact v10 calibration flags, output filenames,</a:t>
            </a:r>
            <a:br/>
            <a:r>
              <a:t>error patterns, convergence criteria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29000"/>
            <a:ext cx="274320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Calibri"/>
              </a:defRPr>
            </a:pPr>
            <a:r>
              <a:t>midas-integrate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5204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Updated to v11.0 manual, 2D→1D workflow,</a:t>
            </a:r>
            <a:br/>
            <a:r>
              <a:t>auto-detect calibration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80560"/>
            <a:ext cx="274320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Calibri"/>
              </a:defRPr>
            </a:pPr>
            <a:r>
              <a:t>midas-hedm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5720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FF/NF/PF-HEDM full workflow references,</a:t>
            </a:r>
            <a:br/>
            <a:r>
              <a:t>GPU executables, checkpoint/resume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532120"/>
            <a:ext cx="274320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Calibri"/>
              </a:defRPr>
            </a:pPr>
            <a:r>
              <a:t>midas-visualize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6235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Plot types, file format → viewer script mapping,</a:t>
            </a:r>
            <a:br/>
            <a:r>
              <a:t>critical flags (case-sensitive!)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Smart Features for Beamtime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EA2"/>
                </a:solidFill>
                <a:latin typeface="Calibri"/>
              </a:defRPr>
            </a:pPr>
            <a:r>
              <a:t>Proactive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After each analysis step, APEXA suggests logical next steps</a:t>
            </a:r>
            <a:br/>
            <a:r>
              <a:t>(e.g., after integration → “identify phases, check for peak splitting”)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4864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EA2"/>
                </a:solidFill>
                <a:latin typeface="Calibri"/>
              </a:defRPr>
            </a:pPr>
            <a:r>
              <a:t>Real-Time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745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Watch directories for new images, auto-analyze quality,</a:t>
            </a:r>
            <a:br/>
            <a:r>
              <a:t>alert on saturation, low SNR, or missing diffraction rings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54864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EA2"/>
                </a:solidFill>
                <a:latin typeface="Calibri"/>
              </a:defRPr>
            </a:pPr>
            <a:r>
              <a:t>Image Quality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Automated SNR, saturation detection, hot pixel detection,</a:t>
            </a:r>
            <a:br/>
            <a:r>
              <a:t>ring detection — flags problems before you waste time analyzing bad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4864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EA2"/>
                </a:solidFill>
                <a:latin typeface="Calibri"/>
              </a:defRPr>
            </a:pPr>
            <a:r>
              <a:t>Session 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204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Save/load experiment sessions across restarts — tracks</a:t>
            </a:r>
            <a:br/>
            <a:r>
              <a:t>analysis history, key findings, active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63440"/>
            <a:ext cx="54864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EA2"/>
                </a:solidFill>
                <a:latin typeface="Calibri"/>
              </a:defRPr>
            </a:pPr>
            <a:r>
              <a:t>Smart Caching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Expensive read-only operations cached to avoid</a:t>
            </a:r>
            <a:br/>
            <a:r>
              <a:t>redundant calls — faster repeat queries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663440"/>
            <a:ext cx="54864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EA2"/>
                </a:solidFill>
                <a:latin typeface="Calibri"/>
              </a:defRPr>
            </a:pPr>
            <a:r>
              <a:t>Error 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1663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Validates directories, parameter files, and inputs before</a:t>
            </a:r>
            <a:br/>
            <a:r>
              <a:t>execution — catches mistakes before they waste beamtime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Multi-Model Support via Argo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Calibri"/>
              </a:defRPr>
            </a:pPr>
            <a:r>
              <a:t>Swap AI models at runtime without changing workflows — all through Argonne’s Argo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9418320" cy="822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Calibri"/>
              </a:defRPr>
            </a:pPr>
            <a:r>
              <a:t>OpenAI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423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GPT-4o, GPT-4 Turbo, GPT-5, GPT-5 Mini/Nano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57575"/>
                </a:solidFill>
                <a:latin typeface="Calibri"/>
              </a:defRPr>
            </a:pPr>
            <a:r>
              <a:t>PROD / DEV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383280"/>
            <a:ext cx="9418320" cy="8229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520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Calibri"/>
              </a:defRPr>
            </a:pPr>
            <a:r>
              <a:t>Anthropic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520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Claude Opus 4/4.1, Sonnet 4/4.5/3.7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520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57575"/>
                </a:solidFill>
                <a:latin typeface="Calibri"/>
              </a:defRPr>
            </a:pPr>
            <a:r>
              <a:t>DEV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480560"/>
            <a:ext cx="941832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617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617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Gemini 2.5 Pro, Gemini 2.5 Flash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4617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57575"/>
                </a:solidFill>
                <a:latin typeface="Calibri"/>
              </a:defRPr>
            </a:pPr>
            <a:r>
              <a:t>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333333"/>
                </a:solidFill>
                <a:latin typeface="Calibri"/>
              </a:defRPr>
            </a:pPr>
            <a:r>
              <a:t>3 Interfaces: CLI (start_beamline_assistant.sh), Gradio Web UI, Web Server API</a:t>
            </a:r>
            <a:br/>
            <a:r>
              <a:t>All share the same run_query() entry point — identical behavior across interfaces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Live Demo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57784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EA2"/>
                </a:solidFill>
                <a:latin typeface="Calibri"/>
              </a:defRPr>
            </a:pPr>
            <a:r>
              <a:t>1.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"Calibrate CeO2 data in test5 at 61.332 keV"</a:t>
            </a:r>
            <a:br/>
            <a:r>
              <a:t>→ energy→wavelength → find files → AutoCalibrateZarr → report BC, Lsd, tilts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57784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447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EA2"/>
                </a:solidFill>
                <a:latin typeface="Calibri"/>
              </a:defRPr>
            </a:pPr>
            <a:r>
              <a:t>2. Integration + Viz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"Integrate the CeO2 data" then "Show the lineout"</a:t>
            </a:r>
            <a:br/>
            <a:r>
              <a:t>→ 2D→1D integration → auto-launch MIDAS viewer with correct 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63240"/>
            <a:ext cx="557784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363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EA2"/>
                </a:solidFill>
                <a:latin typeface="Calibri"/>
              </a:defRPr>
            </a:pPr>
            <a:r>
              <a:t>3. X-ray Calculations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"Calculate d-spacing for (110) in bcc iron"</a:t>
            </a:r>
            <a:br/>
            <a:r>
              <a:t>→ xray_calculate tool — never computes manually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63240"/>
            <a:ext cx="557784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363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EA2"/>
                </a:solidFill>
                <a:latin typeface="Calibri"/>
              </a:defRPr>
            </a:pPr>
            <a:r>
              <a:t>4. Motor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204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"Move m1 to 50.0" → limit check → move → wait → report</a:t>
            </a:r>
            <a:br/>
            <a:r>
              <a:t>"Stop!" → immediate STOP=1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4880"/>
            <a:ext cx="557784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280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EA2"/>
                </a:solidFill>
                <a:latin typeface="Calibri"/>
              </a:defRPr>
            </a:pPr>
            <a:r>
              <a:t>5. Full HEDM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"Run FF-HEDM on test5"</a:t>
            </a:r>
            <a:br/>
            <a:r>
              <a:t>→ validate dir → run_ff_hedm_full_workflow → grains, convergence, outputs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754880"/>
            <a:ext cx="557784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280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EA2"/>
                </a:solidFill>
                <a:latin typeface="Calibri"/>
              </a:defRPr>
            </a:pPr>
            <a:r>
              <a:t>6. Multi-turn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2120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Remembers context: "Now track grains between step 1 and 2"</a:t>
            </a:r>
            <a:br/>
            <a:r>
              <a:t>→ knows what data you were working with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It Matters for Beamline Users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No more memorizing flags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8988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You say "calibrate" — APEXA knows AutoCalibrateZarr.py --paramFN ... --darkFN ...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No more wrong script paths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1284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Agent Skills are version-locked to the MIDAS v10/v11 manual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Errors caught before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3580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Validates directories, parameters, and limits before running anything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Faster beamtime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587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Operators spend time on science, not command-line plumbing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Safe motor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68172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AI respects physical constraints; humans confirm large moves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Works with your model of choice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50468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Swap between GPT-5, Claude, Gemini without changing workflows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Command Reference: Calibration &amp;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576072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Calibrate the CeO2 image in test5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Calibrate the CeO2 data at 61.332 keV in test5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Calibrate test5/CeO_000001.tif.ge using
  test5/Parameters.txt with dark file
  test5/dark_CeO_000001.tif.ge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What calibrants are available?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Validate: energy 61.332 keV, detector
  distance 650 mm, beam center 1024 1024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57784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Integration (2D → 1D)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Integrate the diffraction image in test5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Integrate test5/CeO_000001.tif.ge using
  calibration file refined_MIDAS_params_CeO.txt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Integrate test5/CeO_000001.tif.ge with
  dark file test5/dark_CeO_000001.tif.ge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Batch integrate data/sample_003083.ge1.h5
  frames 3083 to 3085 using dark file
  data/dark_003084.ge1.h5 with 80 CPUs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572000"/>
            <a:ext cx="11612880" cy="45720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5902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X-ray Calculations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749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100">
                <a:solidFill>
                  <a:srgbClr val="333333"/>
                </a:solidFill>
                <a:latin typeface="Consolas"/>
              </a:rPr>
              <a:t>▶  Convert 61.332 keV to wavelength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074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100">
                <a:solidFill>
                  <a:srgbClr val="333333"/>
                </a:solidFill>
                <a:latin typeface="Consolas"/>
              </a:rPr>
              <a:t>▶  Calculate d-spacing for (110) plane in bcc iron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9495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100">
                <a:solidFill>
                  <a:srgbClr val="333333"/>
                </a:solidFill>
                <a:latin typeface="Consolas"/>
              </a:rPr>
              <a:t>▶  Convert 0.2022 angstroms to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3949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100">
                <a:solidFill>
                  <a:srgbClr val="333333"/>
                </a:solidFill>
                <a:latin typeface="Consolas"/>
              </a:rPr>
              <a:t>▶  What is 2-theta for d=2.03 Å at 61.332 keV?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150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100">
                <a:solidFill>
                  <a:srgbClr val="333333"/>
                </a:solidFill>
                <a:latin typeface="Consolas"/>
              </a:rPr>
              <a:t>▶  Calculate strain: measured d 2.035, ref 2.028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100">
                <a:solidFill>
                  <a:srgbClr val="333333"/>
                </a:solidFill>
                <a:latin typeface="Consolas"/>
              </a:rPr>
              <a:t>▶  List all available materials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Command Reference: HEDM &amp; Grain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576072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HEDM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Run FF-HEDM reconstruction on test5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Run FF-HEDM on test5 with GPU enabled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Resume FF-HEDM from checkpoint test5/checkpoint.h5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Restart FF-HEDM from the indexing step in test5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Run NF-HEDM reconstruction using
  test5/Parameters.txt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Run NF-HEDM using test5/Parameters.txt with
  FF grains from test5/Grains.csv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Run PF-HEDM workflow using Parameters.txt
  with positions file scan_positions.csv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57784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Grain Analysis &amp; Post-Processing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Match grains between step1/Grains.csv and
  step2/Grains.csv with position tolerance
  100 microns and orientation tolerance 2 deg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Calculate misorientation between grain 1 and
  grain 5 in test5/Grains.csv for FCC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Extract grain centroids from test5/Grains.mic
  with minimum grain size 100 voxels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Run forward simulation using test5/Grains.csv
  and test5/Parameters.txt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Convert NF-HEDM results to Dream3D format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Overlay FF and NF results from test5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Command Reference: Visualization &amp; Motor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576072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Show me the diffraction image in test5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Plot the lineout for test5 integration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Show the caked output in test5/integration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Plot the calibration results in test5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Launch the live viewer for
  test5/CeO_lineout.bin with 2000 radial bins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Show the FF-HEDM grain results in test5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View the NF microstructure map test5/Grains.mic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Compare lineouts from test5 and test6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57784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Motor Control (EPICS)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What is the position of motor m1?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Show me the status of motor m1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Show positions of motors m1, m2, m3, m4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Move m1 to 25.3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Move m1 by +0.5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Tweak m1 forward by 0.01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Jog m1 forward for 2 seconds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Stop motor m1!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Set motor m1 velocity to 5.0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What are the limits of m1?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Set high limit of m1 to 200 and low to -50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Home motor m1 in the forward direction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Command Reference: Knowledge &amp; Multi-Turn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5760720" cy="45720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Knowledge &amp; Material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What are the material properties of CeO2?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Give me the lattice parameters for LaB6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What is the space group of titanium?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Material properties of Steel_316L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What is the difference between FF and NF HEDM?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What are best practices for calibration
  at high energy?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What are typical HEDM parameters for 61 keV?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Estimate detector distance from ring radii
  [412, 478, 675] px at 0.2022 Å, pixel 200 µm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577840" cy="4572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Multi-Turn Workflow (context-aware)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1. Calibrate the CeO2 data in test5
     at 61.332 keV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2. Now integrate that data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3. Show me the lineout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4. What phases match these peaks?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5. Run FF-HEDM on this data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6. How many grains were found?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7. Track grains between step 1 and step 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onsolas"/>
              </a:rPr>
              <a:t>▶  8. Export the results to Dream3D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66928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EA2"/>
                </a:solidFill>
                <a:latin typeface="Calibri"/>
              </a:defRPr>
            </a:pPr>
            <a:r>
              <a:t>APEXA remembers context across turns —</a:t>
            </a:r>
            <a:br/>
            <a:r>
              <a:t>no need to repeat file paths or parameters.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APEXA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651760"/>
            <a:ext cx="3017520" cy="45720"/>
          </a:xfrm>
          <a:prstGeom prst="rect">
            <a:avLst/>
          </a:prstGeom>
          <a:solidFill>
            <a:srgbClr val="E8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EFB"/>
                </a:solidFill>
                <a:latin typeface="Calibri"/>
              </a:defRPr>
            </a:pPr>
            <a:r>
              <a:t>Talk to your beamline.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DEFB"/>
                </a:solidFill>
                <a:latin typeface="Calibri"/>
              </a:defRPr>
            </a:pPr>
            <a:r>
              <a:t>42 tools  |  5 specialist agents  |  3 MCP servers</a:t>
            </a:r>
            <a:br/>
            <a:r>
              <a:t>Calibration • Integration • FF/NF/PF-HEDM • Motor Control •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CAF9"/>
                </a:solidFill>
                <a:latin typeface="Calibri"/>
              </a:defRPr>
            </a:pPr>
            <a:r>
              <a:t>Pawan Tripathi  |  ptripathi@anl.gov  |  Advanced Photon Source, Argonne National Laboratory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B5F6"/>
                </a:solidFill>
                <a:latin typeface="Calibri"/>
              </a:defRPr>
            </a:pPr>
            <a:r>
              <a:t>github.com/AdvancedPhotonSource/APS-Beamline-Assistant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